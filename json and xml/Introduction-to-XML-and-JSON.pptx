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0" d="100"/>
          <a:sy n="60"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00613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5" name="Text 2"/>
          <p:cNvSpPr/>
          <p:nvPr/>
        </p:nvSpPr>
        <p:spPr>
          <a:xfrm>
            <a:off x="833199" y="2084784"/>
            <a:ext cx="7477601" cy="1666399"/>
          </a:xfrm>
          <a:prstGeom prst="rect">
            <a:avLst/>
          </a:prstGeom>
          <a:noFill/>
          <a:ln/>
        </p:spPr>
        <p:txBody>
          <a:bodyPr wrap="square" rtlCol="0" anchor="t"/>
          <a:lstStyle/>
          <a:p>
            <a:pPr marL="0" indent="0">
              <a:lnSpc>
                <a:spcPts val="6561"/>
              </a:lnSpc>
              <a:buNone/>
            </a:pPr>
            <a:r>
              <a:rPr lang="en-US" sz="5249" b="1" dirty="0">
                <a:solidFill>
                  <a:srgbClr val="FF726D"/>
                </a:solidFill>
                <a:latin typeface="Inconsolata" pitchFamily="34" charset="0"/>
                <a:ea typeface="Inconsolata" pitchFamily="34" charset="-122"/>
                <a:cs typeface="Inconsolata" pitchFamily="34" charset="-120"/>
              </a:rPr>
              <a:t>Introduction to XML and JSON</a:t>
            </a:r>
            <a:endParaRPr lang="en-US" sz="5249" dirty="0"/>
          </a:p>
        </p:txBody>
      </p:sp>
      <p:sp>
        <p:nvSpPr>
          <p:cNvPr id="6" name="Text 3"/>
          <p:cNvSpPr/>
          <p:nvPr/>
        </p:nvSpPr>
        <p:spPr>
          <a:xfrm>
            <a:off x="833199" y="4084439"/>
            <a:ext cx="7477601" cy="1421606"/>
          </a:xfrm>
          <a:prstGeom prst="rect">
            <a:avLst/>
          </a:prstGeom>
          <a:noFill/>
          <a:ln/>
        </p:spPr>
        <p:txBody>
          <a:bodyPr wrap="square" rtlCol="0" anchor="t"/>
          <a:lstStyle/>
          <a:p>
            <a:pPr marL="0" indent="0">
              <a:lnSpc>
                <a:spcPts val="2799"/>
              </a:lnSpc>
              <a:buNone/>
            </a:pPr>
            <a:r>
              <a:rPr lang="en-US" sz="1750" dirty="0">
                <a:solidFill>
                  <a:srgbClr val="DAD1E6"/>
                </a:solidFill>
                <a:latin typeface="Fira Sans" pitchFamily="34" charset="0"/>
                <a:ea typeface="Fira Sans" pitchFamily="34" charset="-122"/>
                <a:cs typeface="Fira Sans" pitchFamily="34" charset="-120"/>
              </a:rPr>
              <a:t>This presentation provides an overview of XML and JSON, the two most popular data exchange formats used in web development and data management. We'll explore their similarities, differences, advantages, and disadvantages, as well as their applications in various industries.</a:t>
            </a:r>
            <a:endParaRPr lang="en-US" sz="1750" dirty="0"/>
          </a:p>
        </p:txBody>
      </p:sp>
      <p:sp>
        <p:nvSpPr>
          <p:cNvPr id="7" name="Shape 4"/>
          <p:cNvSpPr/>
          <p:nvPr/>
        </p:nvSpPr>
        <p:spPr>
          <a:xfrm>
            <a:off x="833199" y="5772626"/>
            <a:ext cx="355402" cy="355402"/>
          </a:xfrm>
          <a:prstGeom prst="roundRect">
            <a:avLst>
              <a:gd name="adj" fmla="val 25726039"/>
            </a:avLst>
          </a:prstGeom>
          <a:noFill/>
          <a:ln w="7620">
            <a:solidFill>
              <a:srgbClr val="FFFFFF"/>
            </a:solidFill>
            <a:prstDash val="solid"/>
          </a:ln>
        </p:spPr>
      </p:sp>
      <p:pic>
        <p:nvPicPr>
          <p:cNvPr id="8" name="Image 1" descr="preencoded.png"/>
          <p:cNvPicPr>
            <a:picLocks noChangeAspect="1"/>
          </p:cNvPicPr>
          <p:nvPr/>
        </p:nvPicPr>
        <p:blipFill>
          <a:blip r:embed="rId4"/>
          <a:stretch>
            <a:fillRect/>
          </a:stretch>
        </p:blipFill>
        <p:spPr>
          <a:xfrm>
            <a:off x="840819" y="5780246"/>
            <a:ext cx="340162" cy="340162"/>
          </a:xfrm>
          <a:prstGeom prst="rect">
            <a:avLst/>
          </a:prstGeom>
        </p:spPr>
      </p:pic>
      <p:sp>
        <p:nvSpPr>
          <p:cNvPr id="9" name="Text 5"/>
          <p:cNvSpPr/>
          <p:nvPr/>
        </p:nvSpPr>
        <p:spPr>
          <a:xfrm>
            <a:off x="1299686" y="5755958"/>
            <a:ext cx="1885593" cy="388858"/>
          </a:xfrm>
          <a:prstGeom prst="rect">
            <a:avLst/>
          </a:prstGeom>
          <a:noFill/>
          <a:ln/>
        </p:spPr>
        <p:txBody>
          <a:bodyPr wrap="none" rtlCol="0" anchor="t"/>
          <a:lstStyle/>
          <a:p>
            <a:pPr marL="0" indent="0" algn="l">
              <a:lnSpc>
                <a:spcPts val="3062"/>
              </a:lnSpc>
              <a:buNone/>
            </a:pPr>
            <a:r>
              <a:rPr lang="en-US" sz="2187" b="1" dirty="0">
                <a:solidFill>
                  <a:srgbClr val="DAD1E6"/>
                </a:solidFill>
                <a:latin typeface="Fira Sans" pitchFamily="34" charset="0"/>
                <a:ea typeface="Fira Sans" pitchFamily="34" charset="-122"/>
                <a:cs typeface="Fira Sans" pitchFamily="34" charset="-120"/>
              </a:rPr>
              <a:t>By Muniba Atiq</a:t>
            </a:r>
            <a:endParaRPr lang="en-US" sz="2187"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sp>
        <p:nvSpPr>
          <p:cNvPr id="4" name="Text 2"/>
          <p:cNvSpPr/>
          <p:nvPr/>
        </p:nvSpPr>
        <p:spPr>
          <a:xfrm>
            <a:off x="2037993" y="3012281"/>
            <a:ext cx="5554980" cy="694373"/>
          </a:xfrm>
          <a:prstGeom prst="rect">
            <a:avLst/>
          </a:prstGeom>
          <a:noFill/>
          <a:ln/>
        </p:spPr>
        <p:txBody>
          <a:bodyPr wrap="none" rtlCol="0" anchor="t"/>
          <a:lstStyle/>
          <a:p>
            <a:pPr marL="0" indent="0">
              <a:lnSpc>
                <a:spcPts val="5468"/>
              </a:lnSpc>
              <a:buNone/>
            </a:pPr>
            <a:r>
              <a:rPr lang="en-US" sz="4374" b="1" dirty="0">
                <a:solidFill>
                  <a:srgbClr val="FF726D"/>
                </a:solidFill>
                <a:latin typeface="Inconsolata" pitchFamily="34" charset="0"/>
                <a:ea typeface="Inconsolata" pitchFamily="34" charset="-122"/>
                <a:cs typeface="Inconsolata" pitchFamily="34" charset="-120"/>
              </a:rPr>
              <a:t>What is XML?</a:t>
            </a:r>
            <a:endParaRPr lang="en-US" sz="4374" dirty="0"/>
          </a:p>
        </p:txBody>
      </p:sp>
      <p:sp>
        <p:nvSpPr>
          <p:cNvPr id="5" name="Text 3"/>
          <p:cNvSpPr/>
          <p:nvPr/>
        </p:nvSpPr>
        <p:spPr>
          <a:xfrm>
            <a:off x="2037993" y="4150995"/>
            <a:ext cx="10554414" cy="1066205"/>
          </a:xfrm>
          <a:prstGeom prst="rect">
            <a:avLst/>
          </a:prstGeom>
          <a:noFill/>
          <a:ln/>
        </p:spPr>
        <p:txBody>
          <a:bodyPr wrap="square" rtlCol="0" anchor="t"/>
          <a:lstStyle/>
          <a:p>
            <a:pPr marL="0" indent="0">
              <a:lnSpc>
                <a:spcPts val="2799"/>
              </a:lnSpc>
              <a:buNone/>
            </a:pPr>
            <a:r>
              <a:rPr lang="en-US" sz="1750" dirty="0">
                <a:solidFill>
                  <a:srgbClr val="DAD1E6"/>
                </a:solidFill>
                <a:latin typeface="Fira Sans" pitchFamily="34" charset="0"/>
                <a:ea typeface="Fira Sans" pitchFamily="34" charset="-122"/>
                <a:cs typeface="Fira Sans" pitchFamily="34" charset="-120"/>
              </a:rPr>
              <a:t>XML, or Extensible Markup Language, is a markup language that defines a set of rules for encoding documents in a format that is both human-readable and machine-readable. It is widely used for storing and transmitting data, particularly in web applications and data exchange.</a:t>
            </a:r>
            <a:endParaRPr lang="en-US" sz="175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5" name="Text 2"/>
          <p:cNvSpPr/>
          <p:nvPr/>
        </p:nvSpPr>
        <p:spPr>
          <a:xfrm>
            <a:off x="833199" y="2712482"/>
            <a:ext cx="5554980" cy="694373"/>
          </a:xfrm>
          <a:prstGeom prst="rect">
            <a:avLst/>
          </a:prstGeom>
          <a:noFill/>
          <a:ln/>
        </p:spPr>
        <p:txBody>
          <a:bodyPr wrap="none" rtlCol="0" anchor="t"/>
          <a:lstStyle/>
          <a:p>
            <a:pPr marL="0" indent="0">
              <a:lnSpc>
                <a:spcPts val="5468"/>
              </a:lnSpc>
              <a:buNone/>
            </a:pPr>
            <a:r>
              <a:rPr lang="en-US" sz="4374" b="1" dirty="0">
                <a:solidFill>
                  <a:srgbClr val="FF726D"/>
                </a:solidFill>
                <a:latin typeface="Inconsolata" pitchFamily="34" charset="0"/>
                <a:ea typeface="Inconsolata" pitchFamily="34" charset="-122"/>
                <a:cs typeface="Inconsolata" pitchFamily="34" charset="-120"/>
              </a:rPr>
              <a:t>What is JSON?</a:t>
            </a:r>
            <a:endParaRPr lang="en-US" sz="4374" dirty="0"/>
          </a:p>
        </p:txBody>
      </p:sp>
      <p:sp>
        <p:nvSpPr>
          <p:cNvPr id="6" name="Text 3"/>
          <p:cNvSpPr/>
          <p:nvPr/>
        </p:nvSpPr>
        <p:spPr>
          <a:xfrm>
            <a:off x="833199" y="3740110"/>
            <a:ext cx="7477601" cy="1777008"/>
          </a:xfrm>
          <a:prstGeom prst="rect">
            <a:avLst/>
          </a:prstGeom>
          <a:noFill/>
          <a:ln/>
        </p:spPr>
        <p:txBody>
          <a:bodyPr wrap="square" rtlCol="0" anchor="t"/>
          <a:lstStyle/>
          <a:p>
            <a:pPr marL="0" indent="0">
              <a:lnSpc>
                <a:spcPts val="2799"/>
              </a:lnSpc>
              <a:buNone/>
            </a:pPr>
            <a:r>
              <a:rPr lang="en-US" sz="1750" dirty="0">
                <a:solidFill>
                  <a:srgbClr val="DAD1E6"/>
                </a:solidFill>
                <a:latin typeface="Fira Sans" pitchFamily="34" charset="0"/>
                <a:ea typeface="Fira Sans" pitchFamily="34" charset="-122"/>
                <a:cs typeface="Fira Sans" pitchFamily="34" charset="-120"/>
              </a:rPr>
              <a:t>JSON, or JavaScript Object Notation, is a lightweight data-interchange format that is easy for humans to read and write, and easy for machines to parse and generate. It is based on a subset of the JavaScript Programming Language Standard and is often used for transmitting data between a server and web application.</a:t>
            </a:r>
            <a:endParaRPr lang="en-US" sz="175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sp>
        <p:nvSpPr>
          <p:cNvPr id="4" name="Text 2"/>
          <p:cNvSpPr/>
          <p:nvPr/>
        </p:nvSpPr>
        <p:spPr>
          <a:xfrm>
            <a:off x="2037993" y="1691878"/>
            <a:ext cx="10554414" cy="1388745"/>
          </a:xfrm>
          <a:prstGeom prst="rect">
            <a:avLst/>
          </a:prstGeom>
          <a:noFill/>
          <a:ln/>
        </p:spPr>
        <p:txBody>
          <a:bodyPr wrap="square" rtlCol="0" anchor="t"/>
          <a:lstStyle/>
          <a:p>
            <a:pPr marL="0" indent="0">
              <a:lnSpc>
                <a:spcPts val="5468"/>
              </a:lnSpc>
              <a:buNone/>
            </a:pPr>
            <a:r>
              <a:rPr lang="en-US" sz="4374" b="1" dirty="0">
                <a:solidFill>
                  <a:srgbClr val="FF726D"/>
                </a:solidFill>
                <a:latin typeface="Inconsolata" pitchFamily="34" charset="0"/>
                <a:ea typeface="Inconsolata" pitchFamily="34" charset="-122"/>
                <a:cs typeface="Inconsolata" pitchFamily="34" charset="-120"/>
              </a:rPr>
              <a:t>Similarities and Differences Between XML and JSON</a:t>
            </a:r>
            <a:endParaRPr lang="en-US" sz="4374" dirty="0"/>
          </a:p>
        </p:txBody>
      </p:sp>
      <p:sp>
        <p:nvSpPr>
          <p:cNvPr id="5" name="Text 3"/>
          <p:cNvSpPr/>
          <p:nvPr/>
        </p:nvSpPr>
        <p:spPr>
          <a:xfrm>
            <a:off x="2037993" y="3636050"/>
            <a:ext cx="2777490" cy="347186"/>
          </a:xfrm>
          <a:prstGeom prst="rect">
            <a:avLst/>
          </a:prstGeom>
          <a:noFill/>
          <a:ln/>
        </p:spPr>
        <p:txBody>
          <a:bodyPr wrap="none" rtlCol="0" anchor="t"/>
          <a:lstStyle/>
          <a:p>
            <a:pPr marL="0" indent="0">
              <a:lnSpc>
                <a:spcPts val="2734"/>
              </a:lnSpc>
              <a:buNone/>
            </a:pPr>
            <a:r>
              <a:rPr lang="en-US" sz="2187" b="1" dirty="0">
                <a:solidFill>
                  <a:srgbClr val="FF726D"/>
                </a:solidFill>
                <a:latin typeface="Inconsolata" pitchFamily="34" charset="0"/>
                <a:ea typeface="Inconsolata" pitchFamily="34" charset="-122"/>
                <a:cs typeface="Inconsolata" pitchFamily="34" charset="-120"/>
              </a:rPr>
              <a:t>Similarities</a:t>
            </a:r>
            <a:endParaRPr lang="en-US" sz="2187" dirty="0"/>
          </a:p>
        </p:txBody>
      </p:sp>
      <p:sp>
        <p:nvSpPr>
          <p:cNvPr id="6" name="Text 4"/>
          <p:cNvSpPr/>
          <p:nvPr/>
        </p:nvSpPr>
        <p:spPr>
          <a:xfrm>
            <a:off x="2037993" y="4205407"/>
            <a:ext cx="3156347" cy="2132409"/>
          </a:xfrm>
          <a:prstGeom prst="rect">
            <a:avLst/>
          </a:prstGeom>
          <a:noFill/>
          <a:ln/>
        </p:spPr>
        <p:txBody>
          <a:bodyPr wrap="square" rtlCol="0" anchor="t"/>
          <a:lstStyle/>
          <a:p>
            <a:pPr marL="0" indent="0">
              <a:lnSpc>
                <a:spcPts val="2799"/>
              </a:lnSpc>
              <a:buNone/>
            </a:pPr>
            <a:r>
              <a:rPr lang="en-US" sz="1750" dirty="0">
                <a:solidFill>
                  <a:srgbClr val="DAD1E6"/>
                </a:solidFill>
                <a:latin typeface="Fira Sans" pitchFamily="34" charset="0"/>
                <a:ea typeface="Fira Sans" pitchFamily="34" charset="-122"/>
                <a:cs typeface="Fira Sans" pitchFamily="34" charset="-120"/>
              </a:rPr>
              <a:t>Both XML and JSON are used for data exchange and storage. They are both human-readable and machine-readable, and they can be used to represent complex data structures.</a:t>
            </a:r>
            <a:endParaRPr lang="en-US" sz="1750" dirty="0"/>
          </a:p>
        </p:txBody>
      </p:sp>
      <p:sp>
        <p:nvSpPr>
          <p:cNvPr id="7" name="Text 5"/>
          <p:cNvSpPr/>
          <p:nvPr/>
        </p:nvSpPr>
        <p:spPr>
          <a:xfrm>
            <a:off x="5743932" y="3636050"/>
            <a:ext cx="2777490" cy="347186"/>
          </a:xfrm>
          <a:prstGeom prst="rect">
            <a:avLst/>
          </a:prstGeom>
          <a:noFill/>
          <a:ln/>
        </p:spPr>
        <p:txBody>
          <a:bodyPr wrap="none" rtlCol="0" anchor="t"/>
          <a:lstStyle/>
          <a:p>
            <a:pPr marL="0" indent="0">
              <a:lnSpc>
                <a:spcPts val="2734"/>
              </a:lnSpc>
              <a:buNone/>
            </a:pPr>
            <a:r>
              <a:rPr lang="en-US" sz="2187" b="1" dirty="0">
                <a:solidFill>
                  <a:srgbClr val="FF726D"/>
                </a:solidFill>
                <a:latin typeface="Inconsolata" pitchFamily="34" charset="0"/>
                <a:ea typeface="Inconsolata" pitchFamily="34" charset="-122"/>
                <a:cs typeface="Inconsolata" pitchFamily="34" charset="-120"/>
              </a:rPr>
              <a:t>Differences</a:t>
            </a:r>
            <a:endParaRPr lang="en-US" sz="2187" dirty="0"/>
          </a:p>
        </p:txBody>
      </p:sp>
      <p:sp>
        <p:nvSpPr>
          <p:cNvPr id="8" name="Text 6"/>
          <p:cNvSpPr/>
          <p:nvPr/>
        </p:nvSpPr>
        <p:spPr>
          <a:xfrm>
            <a:off x="5743932" y="4205407"/>
            <a:ext cx="3156347" cy="2132409"/>
          </a:xfrm>
          <a:prstGeom prst="rect">
            <a:avLst/>
          </a:prstGeom>
          <a:noFill/>
          <a:ln/>
        </p:spPr>
        <p:txBody>
          <a:bodyPr wrap="square" rtlCol="0" anchor="t"/>
          <a:lstStyle/>
          <a:p>
            <a:pPr marL="0" indent="0">
              <a:lnSpc>
                <a:spcPts val="2799"/>
              </a:lnSpc>
              <a:buNone/>
            </a:pPr>
            <a:r>
              <a:rPr lang="en-US" sz="1750" dirty="0">
                <a:solidFill>
                  <a:srgbClr val="DAD1E6"/>
                </a:solidFill>
                <a:latin typeface="Fira Sans" pitchFamily="34" charset="0"/>
                <a:ea typeface="Fira Sans" pitchFamily="34" charset="-122"/>
                <a:cs typeface="Fira Sans" pitchFamily="34" charset="-120"/>
              </a:rPr>
              <a:t>XML uses tags to define the structure of the data, while JSON uses key-value pairs. XML is more verbose and complex, while JSON is more lightweight and easier to read and write.</a:t>
            </a:r>
            <a:endParaRPr lang="en-US" sz="1750" dirty="0"/>
          </a:p>
        </p:txBody>
      </p:sp>
      <p:sp>
        <p:nvSpPr>
          <p:cNvPr id="9" name="Text 7"/>
          <p:cNvSpPr/>
          <p:nvPr/>
        </p:nvSpPr>
        <p:spPr>
          <a:xfrm>
            <a:off x="9449872" y="3636050"/>
            <a:ext cx="2777490" cy="347186"/>
          </a:xfrm>
          <a:prstGeom prst="rect">
            <a:avLst/>
          </a:prstGeom>
          <a:noFill/>
          <a:ln/>
        </p:spPr>
        <p:txBody>
          <a:bodyPr wrap="none" rtlCol="0" anchor="t"/>
          <a:lstStyle/>
          <a:p>
            <a:pPr marL="0" indent="0">
              <a:lnSpc>
                <a:spcPts val="2734"/>
              </a:lnSpc>
              <a:buNone/>
            </a:pPr>
            <a:r>
              <a:rPr lang="en-US" sz="2187" b="1" dirty="0">
                <a:solidFill>
                  <a:srgbClr val="FF726D"/>
                </a:solidFill>
                <a:latin typeface="Inconsolata" pitchFamily="34" charset="0"/>
                <a:ea typeface="Inconsolata" pitchFamily="34" charset="-122"/>
                <a:cs typeface="Inconsolata" pitchFamily="34" charset="-120"/>
              </a:rPr>
              <a:t>Use Cases</a:t>
            </a:r>
            <a:endParaRPr lang="en-US" sz="2187" dirty="0"/>
          </a:p>
        </p:txBody>
      </p:sp>
      <p:sp>
        <p:nvSpPr>
          <p:cNvPr id="10" name="Text 8"/>
          <p:cNvSpPr/>
          <p:nvPr/>
        </p:nvSpPr>
        <p:spPr>
          <a:xfrm>
            <a:off x="9449872" y="4205407"/>
            <a:ext cx="3156347" cy="1777008"/>
          </a:xfrm>
          <a:prstGeom prst="rect">
            <a:avLst/>
          </a:prstGeom>
          <a:noFill/>
          <a:ln/>
        </p:spPr>
        <p:txBody>
          <a:bodyPr wrap="square" rtlCol="0" anchor="t"/>
          <a:lstStyle/>
          <a:p>
            <a:pPr marL="0" indent="0">
              <a:lnSpc>
                <a:spcPts val="2799"/>
              </a:lnSpc>
              <a:buNone/>
            </a:pPr>
            <a:r>
              <a:rPr lang="en-US" sz="1750" dirty="0">
                <a:solidFill>
                  <a:srgbClr val="DAD1E6"/>
                </a:solidFill>
                <a:latin typeface="Fira Sans" pitchFamily="34" charset="0"/>
                <a:ea typeface="Fira Sans" pitchFamily="34" charset="-122"/>
                <a:cs typeface="Fira Sans" pitchFamily="34" charset="-120"/>
              </a:rPr>
              <a:t>XML is often used for data exchange in enterprise applications, while JSON is more commonly used in web development and mobile apps.</a:t>
            </a:r>
            <a:endParaRPr lang="en-US" sz="175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sp>
        <p:nvSpPr>
          <p:cNvPr id="4" name="Text 2"/>
          <p:cNvSpPr/>
          <p:nvPr/>
        </p:nvSpPr>
        <p:spPr>
          <a:xfrm>
            <a:off x="2037993" y="1290638"/>
            <a:ext cx="10554414" cy="1388745"/>
          </a:xfrm>
          <a:prstGeom prst="rect">
            <a:avLst/>
          </a:prstGeom>
          <a:noFill/>
          <a:ln/>
        </p:spPr>
        <p:txBody>
          <a:bodyPr wrap="square" rtlCol="0" anchor="t"/>
          <a:lstStyle/>
          <a:p>
            <a:pPr marL="0" indent="0">
              <a:lnSpc>
                <a:spcPts val="5468"/>
              </a:lnSpc>
              <a:buNone/>
            </a:pPr>
            <a:r>
              <a:rPr lang="en-US" sz="4374" b="1" dirty="0">
                <a:solidFill>
                  <a:srgbClr val="FF726D"/>
                </a:solidFill>
                <a:latin typeface="Inconsolata" pitchFamily="34" charset="0"/>
                <a:ea typeface="Inconsolata" pitchFamily="34" charset="-122"/>
                <a:cs typeface="Inconsolata" pitchFamily="34" charset="-120"/>
              </a:rPr>
              <a:t>Advantages and Disadvantages of XML and JSON</a:t>
            </a:r>
            <a:endParaRPr lang="en-US" sz="4374" dirty="0"/>
          </a:p>
        </p:txBody>
      </p:sp>
      <p:sp>
        <p:nvSpPr>
          <p:cNvPr id="5" name="Shape 3"/>
          <p:cNvSpPr/>
          <p:nvPr/>
        </p:nvSpPr>
        <p:spPr>
          <a:xfrm>
            <a:off x="2037993" y="3297317"/>
            <a:ext cx="499943" cy="499943"/>
          </a:xfrm>
          <a:prstGeom prst="roundRect">
            <a:avLst>
              <a:gd name="adj" fmla="val 13333"/>
            </a:avLst>
          </a:prstGeom>
          <a:solidFill>
            <a:srgbClr val="382748"/>
          </a:solidFill>
          <a:ln/>
        </p:spPr>
      </p:sp>
      <p:sp>
        <p:nvSpPr>
          <p:cNvPr id="6" name="Text 4"/>
          <p:cNvSpPr/>
          <p:nvPr/>
        </p:nvSpPr>
        <p:spPr>
          <a:xfrm>
            <a:off x="2204561" y="3338989"/>
            <a:ext cx="166688" cy="416481"/>
          </a:xfrm>
          <a:prstGeom prst="rect">
            <a:avLst/>
          </a:prstGeom>
          <a:noFill/>
          <a:ln/>
        </p:spPr>
        <p:txBody>
          <a:bodyPr wrap="none" rtlCol="0" anchor="t"/>
          <a:lstStyle/>
          <a:p>
            <a:pPr marL="0" indent="0" algn="ctr">
              <a:lnSpc>
                <a:spcPts val="3281"/>
              </a:lnSpc>
              <a:buNone/>
            </a:pPr>
            <a:r>
              <a:rPr lang="en-US" sz="2624" b="1" dirty="0">
                <a:solidFill>
                  <a:srgbClr val="FF726D"/>
                </a:solidFill>
                <a:latin typeface="Inconsolata" pitchFamily="34" charset="0"/>
                <a:ea typeface="Inconsolata" pitchFamily="34" charset="-122"/>
                <a:cs typeface="Inconsolata" pitchFamily="34" charset="-120"/>
              </a:rPr>
              <a:t>1</a:t>
            </a:r>
            <a:endParaRPr lang="en-US" sz="2624" dirty="0"/>
          </a:p>
        </p:txBody>
      </p:sp>
      <p:sp>
        <p:nvSpPr>
          <p:cNvPr id="7" name="Text 5"/>
          <p:cNvSpPr/>
          <p:nvPr/>
        </p:nvSpPr>
        <p:spPr>
          <a:xfrm>
            <a:off x="2760107" y="3373636"/>
            <a:ext cx="2777490" cy="347186"/>
          </a:xfrm>
          <a:prstGeom prst="rect">
            <a:avLst/>
          </a:prstGeom>
          <a:noFill/>
          <a:ln/>
        </p:spPr>
        <p:txBody>
          <a:bodyPr wrap="none" rtlCol="0" anchor="t"/>
          <a:lstStyle/>
          <a:p>
            <a:pPr marL="0" indent="0">
              <a:lnSpc>
                <a:spcPts val="2734"/>
              </a:lnSpc>
              <a:buNone/>
            </a:pPr>
            <a:r>
              <a:rPr lang="en-US" sz="2187" b="1" dirty="0">
                <a:solidFill>
                  <a:srgbClr val="FF726D"/>
                </a:solidFill>
                <a:latin typeface="Inconsolata" pitchFamily="34" charset="0"/>
                <a:ea typeface="Inconsolata" pitchFamily="34" charset="-122"/>
                <a:cs typeface="Inconsolata" pitchFamily="34" charset="-120"/>
              </a:rPr>
              <a:t>XML Advantages</a:t>
            </a:r>
            <a:endParaRPr lang="en-US" sz="2187" dirty="0"/>
          </a:p>
        </p:txBody>
      </p:sp>
      <p:sp>
        <p:nvSpPr>
          <p:cNvPr id="8" name="Text 6"/>
          <p:cNvSpPr/>
          <p:nvPr/>
        </p:nvSpPr>
        <p:spPr>
          <a:xfrm>
            <a:off x="2760107" y="3854053"/>
            <a:ext cx="4444008" cy="1066205"/>
          </a:xfrm>
          <a:prstGeom prst="rect">
            <a:avLst/>
          </a:prstGeom>
          <a:noFill/>
          <a:ln/>
        </p:spPr>
        <p:txBody>
          <a:bodyPr wrap="square" rtlCol="0" anchor="t"/>
          <a:lstStyle/>
          <a:p>
            <a:pPr marL="0" indent="0">
              <a:lnSpc>
                <a:spcPts val="2799"/>
              </a:lnSpc>
              <a:buNone/>
            </a:pPr>
            <a:r>
              <a:rPr lang="en-US" sz="1750" dirty="0">
                <a:solidFill>
                  <a:srgbClr val="DAD1E6"/>
                </a:solidFill>
                <a:latin typeface="Fira Sans" pitchFamily="34" charset="0"/>
                <a:ea typeface="Fira Sans" pitchFamily="34" charset="-122"/>
                <a:cs typeface="Fira Sans" pitchFamily="34" charset="-120"/>
              </a:rPr>
              <a:t>Highly structured, flexible, and widely adopted. Supports advanced features like namespaces and schema validation.</a:t>
            </a:r>
            <a:endParaRPr lang="en-US" sz="1750" dirty="0"/>
          </a:p>
        </p:txBody>
      </p:sp>
      <p:sp>
        <p:nvSpPr>
          <p:cNvPr id="9" name="Shape 7"/>
          <p:cNvSpPr/>
          <p:nvPr/>
        </p:nvSpPr>
        <p:spPr>
          <a:xfrm>
            <a:off x="7426285" y="3297317"/>
            <a:ext cx="499943" cy="499943"/>
          </a:xfrm>
          <a:prstGeom prst="roundRect">
            <a:avLst>
              <a:gd name="adj" fmla="val 13333"/>
            </a:avLst>
          </a:prstGeom>
          <a:solidFill>
            <a:srgbClr val="382748"/>
          </a:solidFill>
          <a:ln/>
        </p:spPr>
      </p:sp>
      <p:sp>
        <p:nvSpPr>
          <p:cNvPr id="10" name="Text 8"/>
          <p:cNvSpPr/>
          <p:nvPr/>
        </p:nvSpPr>
        <p:spPr>
          <a:xfrm>
            <a:off x="7592854" y="3338989"/>
            <a:ext cx="166688" cy="416481"/>
          </a:xfrm>
          <a:prstGeom prst="rect">
            <a:avLst/>
          </a:prstGeom>
          <a:noFill/>
          <a:ln/>
        </p:spPr>
        <p:txBody>
          <a:bodyPr wrap="none" rtlCol="0" anchor="t"/>
          <a:lstStyle/>
          <a:p>
            <a:pPr marL="0" indent="0" algn="ctr">
              <a:lnSpc>
                <a:spcPts val="3281"/>
              </a:lnSpc>
              <a:buNone/>
            </a:pPr>
            <a:r>
              <a:rPr lang="en-US" sz="2624" b="1" dirty="0">
                <a:solidFill>
                  <a:srgbClr val="FF726D"/>
                </a:solidFill>
                <a:latin typeface="Inconsolata" pitchFamily="34" charset="0"/>
                <a:ea typeface="Inconsolata" pitchFamily="34" charset="-122"/>
                <a:cs typeface="Inconsolata" pitchFamily="34" charset="-120"/>
              </a:rPr>
              <a:t>2</a:t>
            </a:r>
            <a:endParaRPr lang="en-US" sz="2624" dirty="0"/>
          </a:p>
        </p:txBody>
      </p:sp>
      <p:sp>
        <p:nvSpPr>
          <p:cNvPr id="11" name="Text 9"/>
          <p:cNvSpPr/>
          <p:nvPr/>
        </p:nvSpPr>
        <p:spPr>
          <a:xfrm>
            <a:off x="8148399" y="3373636"/>
            <a:ext cx="2777490" cy="347186"/>
          </a:xfrm>
          <a:prstGeom prst="rect">
            <a:avLst/>
          </a:prstGeom>
          <a:noFill/>
          <a:ln/>
        </p:spPr>
        <p:txBody>
          <a:bodyPr wrap="none" rtlCol="0" anchor="t"/>
          <a:lstStyle/>
          <a:p>
            <a:pPr marL="0" indent="0">
              <a:lnSpc>
                <a:spcPts val="2734"/>
              </a:lnSpc>
              <a:buNone/>
            </a:pPr>
            <a:r>
              <a:rPr lang="en-US" sz="2187" b="1" dirty="0">
                <a:solidFill>
                  <a:srgbClr val="FF726D"/>
                </a:solidFill>
                <a:latin typeface="Inconsolata" pitchFamily="34" charset="0"/>
                <a:ea typeface="Inconsolata" pitchFamily="34" charset="-122"/>
                <a:cs typeface="Inconsolata" pitchFamily="34" charset="-120"/>
              </a:rPr>
              <a:t>XML Disadvantages</a:t>
            </a:r>
            <a:endParaRPr lang="en-US" sz="2187" dirty="0"/>
          </a:p>
        </p:txBody>
      </p:sp>
      <p:sp>
        <p:nvSpPr>
          <p:cNvPr id="12" name="Text 10"/>
          <p:cNvSpPr/>
          <p:nvPr/>
        </p:nvSpPr>
        <p:spPr>
          <a:xfrm>
            <a:off x="8148399" y="3854053"/>
            <a:ext cx="4444008" cy="1066205"/>
          </a:xfrm>
          <a:prstGeom prst="rect">
            <a:avLst/>
          </a:prstGeom>
          <a:noFill/>
          <a:ln/>
        </p:spPr>
        <p:txBody>
          <a:bodyPr wrap="square" rtlCol="0" anchor="t"/>
          <a:lstStyle/>
          <a:p>
            <a:pPr marL="0" indent="0">
              <a:lnSpc>
                <a:spcPts val="2799"/>
              </a:lnSpc>
              <a:buNone/>
            </a:pPr>
            <a:r>
              <a:rPr lang="en-US" sz="1750" dirty="0">
                <a:solidFill>
                  <a:srgbClr val="DAD1E6"/>
                </a:solidFill>
                <a:latin typeface="Fira Sans" pitchFamily="34" charset="0"/>
                <a:ea typeface="Fira Sans" pitchFamily="34" charset="-122"/>
                <a:cs typeface="Fira Sans" pitchFamily="34" charset="-120"/>
              </a:rPr>
              <a:t>More verbose and complex, resulting in larger file sizes and slower processing times.</a:t>
            </a:r>
            <a:endParaRPr lang="en-US" sz="1750" dirty="0"/>
          </a:p>
        </p:txBody>
      </p:sp>
      <p:sp>
        <p:nvSpPr>
          <p:cNvPr id="13" name="Shape 11"/>
          <p:cNvSpPr/>
          <p:nvPr/>
        </p:nvSpPr>
        <p:spPr>
          <a:xfrm>
            <a:off x="2037993" y="5316022"/>
            <a:ext cx="499943" cy="499943"/>
          </a:xfrm>
          <a:prstGeom prst="roundRect">
            <a:avLst>
              <a:gd name="adj" fmla="val 13333"/>
            </a:avLst>
          </a:prstGeom>
          <a:solidFill>
            <a:srgbClr val="382748"/>
          </a:solidFill>
          <a:ln/>
        </p:spPr>
      </p:sp>
      <p:sp>
        <p:nvSpPr>
          <p:cNvPr id="14" name="Text 12"/>
          <p:cNvSpPr/>
          <p:nvPr/>
        </p:nvSpPr>
        <p:spPr>
          <a:xfrm>
            <a:off x="2204561" y="5357693"/>
            <a:ext cx="166688" cy="416481"/>
          </a:xfrm>
          <a:prstGeom prst="rect">
            <a:avLst/>
          </a:prstGeom>
          <a:noFill/>
          <a:ln/>
        </p:spPr>
        <p:txBody>
          <a:bodyPr wrap="none" rtlCol="0" anchor="t"/>
          <a:lstStyle/>
          <a:p>
            <a:pPr marL="0" indent="0" algn="ctr">
              <a:lnSpc>
                <a:spcPts val="3281"/>
              </a:lnSpc>
              <a:buNone/>
            </a:pPr>
            <a:r>
              <a:rPr lang="en-US" sz="2624" b="1" dirty="0">
                <a:solidFill>
                  <a:srgbClr val="FF726D"/>
                </a:solidFill>
                <a:latin typeface="Inconsolata" pitchFamily="34" charset="0"/>
                <a:ea typeface="Inconsolata" pitchFamily="34" charset="-122"/>
                <a:cs typeface="Inconsolata" pitchFamily="34" charset="-120"/>
              </a:rPr>
              <a:t>3</a:t>
            </a:r>
            <a:endParaRPr lang="en-US" sz="2624" dirty="0"/>
          </a:p>
        </p:txBody>
      </p:sp>
      <p:sp>
        <p:nvSpPr>
          <p:cNvPr id="15" name="Text 13"/>
          <p:cNvSpPr/>
          <p:nvPr/>
        </p:nvSpPr>
        <p:spPr>
          <a:xfrm>
            <a:off x="2760107" y="5392341"/>
            <a:ext cx="2777490" cy="347186"/>
          </a:xfrm>
          <a:prstGeom prst="rect">
            <a:avLst/>
          </a:prstGeom>
          <a:noFill/>
          <a:ln/>
        </p:spPr>
        <p:txBody>
          <a:bodyPr wrap="none" rtlCol="0" anchor="t"/>
          <a:lstStyle/>
          <a:p>
            <a:pPr marL="0" indent="0">
              <a:lnSpc>
                <a:spcPts val="2734"/>
              </a:lnSpc>
              <a:buNone/>
            </a:pPr>
            <a:r>
              <a:rPr lang="en-US" sz="2187" b="1" dirty="0">
                <a:solidFill>
                  <a:srgbClr val="FF726D"/>
                </a:solidFill>
                <a:latin typeface="Inconsolata" pitchFamily="34" charset="0"/>
                <a:ea typeface="Inconsolata" pitchFamily="34" charset="-122"/>
                <a:cs typeface="Inconsolata" pitchFamily="34" charset="-120"/>
              </a:rPr>
              <a:t>JSON Advantages</a:t>
            </a:r>
            <a:endParaRPr lang="en-US" sz="2187" dirty="0"/>
          </a:p>
        </p:txBody>
      </p:sp>
      <p:sp>
        <p:nvSpPr>
          <p:cNvPr id="16" name="Text 14"/>
          <p:cNvSpPr/>
          <p:nvPr/>
        </p:nvSpPr>
        <p:spPr>
          <a:xfrm>
            <a:off x="2760107" y="5872758"/>
            <a:ext cx="4444008" cy="1066205"/>
          </a:xfrm>
          <a:prstGeom prst="rect">
            <a:avLst/>
          </a:prstGeom>
          <a:noFill/>
          <a:ln/>
        </p:spPr>
        <p:txBody>
          <a:bodyPr wrap="square" rtlCol="0" anchor="t"/>
          <a:lstStyle/>
          <a:p>
            <a:pPr marL="0" indent="0">
              <a:lnSpc>
                <a:spcPts val="2799"/>
              </a:lnSpc>
              <a:buNone/>
            </a:pPr>
            <a:r>
              <a:rPr lang="en-US" sz="1750" dirty="0">
                <a:solidFill>
                  <a:srgbClr val="DAD1E6"/>
                </a:solidFill>
                <a:latin typeface="Fira Sans" pitchFamily="34" charset="0"/>
                <a:ea typeface="Fira Sans" pitchFamily="34" charset="-122"/>
                <a:cs typeface="Fira Sans" pitchFamily="34" charset="-120"/>
              </a:rPr>
              <a:t>Lightweight, easy to read and write, and faster processing times. Integrates well with JavaScript-based applications.</a:t>
            </a:r>
            <a:endParaRPr lang="en-US" sz="1750" dirty="0"/>
          </a:p>
        </p:txBody>
      </p:sp>
      <p:sp>
        <p:nvSpPr>
          <p:cNvPr id="17" name="Shape 15"/>
          <p:cNvSpPr/>
          <p:nvPr/>
        </p:nvSpPr>
        <p:spPr>
          <a:xfrm>
            <a:off x="7426285" y="5316022"/>
            <a:ext cx="499943" cy="499943"/>
          </a:xfrm>
          <a:prstGeom prst="roundRect">
            <a:avLst>
              <a:gd name="adj" fmla="val 13333"/>
            </a:avLst>
          </a:prstGeom>
          <a:solidFill>
            <a:srgbClr val="382748"/>
          </a:solidFill>
          <a:ln/>
        </p:spPr>
      </p:sp>
      <p:sp>
        <p:nvSpPr>
          <p:cNvPr id="18" name="Text 16"/>
          <p:cNvSpPr/>
          <p:nvPr/>
        </p:nvSpPr>
        <p:spPr>
          <a:xfrm>
            <a:off x="7592854" y="5357693"/>
            <a:ext cx="166688" cy="416481"/>
          </a:xfrm>
          <a:prstGeom prst="rect">
            <a:avLst/>
          </a:prstGeom>
          <a:noFill/>
          <a:ln/>
        </p:spPr>
        <p:txBody>
          <a:bodyPr wrap="none" rtlCol="0" anchor="t"/>
          <a:lstStyle/>
          <a:p>
            <a:pPr marL="0" indent="0" algn="ctr">
              <a:lnSpc>
                <a:spcPts val="3281"/>
              </a:lnSpc>
              <a:buNone/>
            </a:pPr>
            <a:r>
              <a:rPr lang="en-US" sz="2624" b="1" dirty="0">
                <a:solidFill>
                  <a:srgbClr val="FF726D"/>
                </a:solidFill>
                <a:latin typeface="Inconsolata" pitchFamily="34" charset="0"/>
                <a:ea typeface="Inconsolata" pitchFamily="34" charset="-122"/>
                <a:cs typeface="Inconsolata" pitchFamily="34" charset="-120"/>
              </a:rPr>
              <a:t>4</a:t>
            </a:r>
            <a:endParaRPr lang="en-US" sz="2624" dirty="0"/>
          </a:p>
        </p:txBody>
      </p:sp>
      <p:sp>
        <p:nvSpPr>
          <p:cNvPr id="19" name="Text 17"/>
          <p:cNvSpPr/>
          <p:nvPr/>
        </p:nvSpPr>
        <p:spPr>
          <a:xfrm>
            <a:off x="8148399" y="5392341"/>
            <a:ext cx="2777490" cy="347186"/>
          </a:xfrm>
          <a:prstGeom prst="rect">
            <a:avLst/>
          </a:prstGeom>
          <a:noFill/>
          <a:ln/>
        </p:spPr>
        <p:txBody>
          <a:bodyPr wrap="none" rtlCol="0" anchor="t"/>
          <a:lstStyle/>
          <a:p>
            <a:pPr marL="0" indent="0">
              <a:lnSpc>
                <a:spcPts val="2734"/>
              </a:lnSpc>
              <a:buNone/>
            </a:pPr>
            <a:r>
              <a:rPr lang="en-US" sz="2187" b="1" dirty="0">
                <a:solidFill>
                  <a:srgbClr val="FF726D"/>
                </a:solidFill>
                <a:latin typeface="Inconsolata" pitchFamily="34" charset="0"/>
                <a:ea typeface="Inconsolata" pitchFamily="34" charset="-122"/>
                <a:cs typeface="Inconsolata" pitchFamily="34" charset="-120"/>
              </a:rPr>
              <a:t>JSON Disadvantages</a:t>
            </a:r>
            <a:endParaRPr lang="en-US" sz="2187" dirty="0"/>
          </a:p>
        </p:txBody>
      </p:sp>
      <p:sp>
        <p:nvSpPr>
          <p:cNvPr id="20" name="Text 18"/>
          <p:cNvSpPr/>
          <p:nvPr/>
        </p:nvSpPr>
        <p:spPr>
          <a:xfrm>
            <a:off x="8148399" y="5872758"/>
            <a:ext cx="4444008" cy="1066205"/>
          </a:xfrm>
          <a:prstGeom prst="rect">
            <a:avLst/>
          </a:prstGeom>
          <a:noFill/>
          <a:ln/>
        </p:spPr>
        <p:txBody>
          <a:bodyPr wrap="square" rtlCol="0" anchor="t"/>
          <a:lstStyle/>
          <a:p>
            <a:pPr marL="0" indent="0">
              <a:lnSpc>
                <a:spcPts val="2799"/>
              </a:lnSpc>
              <a:buNone/>
            </a:pPr>
            <a:r>
              <a:rPr lang="en-US" sz="1750" dirty="0">
                <a:solidFill>
                  <a:srgbClr val="DAD1E6"/>
                </a:solidFill>
                <a:latin typeface="Fira Sans" pitchFamily="34" charset="0"/>
                <a:ea typeface="Fira Sans" pitchFamily="34" charset="-122"/>
                <a:cs typeface="Fira Sans" pitchFamily="34" charset="-120"/>
              </a:rPr>
              <a:t>Less structured, lacks advanced features like schema validation, and not as widely adopted in enterprise environments.</a:t>
            </a:r>
            <a:endParaRPr lang="en-US" sz="175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sp>
        <p:nvSpPr>
          <p:cNvPr id="4" name="Text 2"/>
          <p:cNvSpPr/>
          <p:nvPr/>
        </p:nvSpPr>
        <p:spPr>
          <a:xfrm>
            <a:off x="2037993" y="1694617"/>
            <a:ext cx="8053745" cy="694373"/>
          </a:xfrm>
          <a:prstGeom prst="rect">
            <a:avLst/>
          </a:prstGeom>
          <a:noFill/>
          <a:ln/>
        </p:spPr>
        <p:txBody>
          <a:bodyPr wrap="none" rtlCol="0" anchor="t"/>
          <a:lstStyle/>
          <a:p>
            <a:pPr marL="0" indent="0">
              <a:lnSpc>
                <a:spcPts val="5468"/>
              </a:lnSpc>
              <a:buNone/>
            </a:pPr>
            <a:r>
              <a:rPr lang="en-US" sz="4374" b="1" dirty="0">
                <a:solidFill>
                  <a:srgbClr val="FF726D"/>
                </a:solidFill>
                <a:latin typeface="Inconsolata" pitchFamily="34" charset="0"/>
                <a:ea typeface="Inconsolata" pitchFamily="34" charset="-122"/>
                <a:cs typeface="Inconsolata" pitchFamily="34" charset="-120"/>
              </a:rPr>
              <a:t>XML and JSON in Data Exchange</a:t>
            </a:r>
            <a:endParaRPr lang="en-US" sz="4374" dirty="0"/>
          </a:p>
        </p:txBody>
      </p:sp>
      <p:pic>
        <p:nvPicPr>
          <p:cNvPr id="5" name="Image 0" descr="preencoded.png"/>
          <p:cNvPicPr>
            <a:picLocks noChangeAspect="1"/>
          </p:cNvPicPr>
          <p:nvPr/>
        </p:nvPicPr>
        <p:blipFill>
          <a:blip r:embed="rId3"/>
          <a:stretch>
            <a:fillRect/>
          </a:stretch>
        </p:blipFill>
        <p:spPr>
          <a:xfrm>
            <a:off x="2037993" y="2833330"/>
            <a:ext cx="3518059" cy="888682"/>
          </a:xfrm>
          <a:prstGeom prst="rect">
            <a:avLst/>
          </a:prstGeom>
        </p:spPr>
      </p:pic>
      <p:sp>
        <p:nvSpPr>
          <p:cNvPr id="6" name="Text 3"/>
          <p:cNvSpPr/>
          <p:nvPr/>
        </p:nvSpPr>
        <p:spPr>
          <a:xfrm>
            <a:off x="2260163" y="4055269"/>
            <a:ext cx="2777490" cy="347186"/>
          </a:xfrm>
          <a:prstGeom prst="rect">
            <a:avLst/>
          </a:prstGeom>
          <a:noFill/>
          <a:ln/>
        </p:spPr>
        <p:txBody>
          <a:bodyPr wrap="none" rtlCol="0" anchor="t"/>
          <a:lstStyle/>
          <a:p>
            <a:pPr marL="0" indent="0" algn="l">
              <a:lnSpc>
                <a:spcPts val="2734"/>
              </a:lnSpc>
              <a:buNone/>
            </a:pPr>
            <a:r>
              <a:rPr lang="en-US" sz="2187" b="1" dirty="0">
                <a:solidFill>
                  <a:srgbClr val="FF726D"/>
                </a:solidFill>
                <a:latin typeface="Inconsolata" pitchFamily="34" charset="0"/>
                <a:ea typeface="Inconsolata" pitchFamily="34" charset="-122"/>
                <a:cs typeface="Inconsolata" pitchFamily="34" charset="-120"/>
              </a:rPr>
              <a:t>Data Generation</a:t>
            </a:r>
            <a:endParaRPr lang="en-US" sz="2187" dirty="0"/>
          </a:p>
        </p:txBody>
      </p:sp>
      <p:sp>
        <p:nvSpPr>
          <p:cNvPr id="7" name="Text 4"/>
          <p:cNvSpPr/>
          <p:nvPr/>
        </p:nvSpPr>
        <p:spPr>
          <a:xfrm>
            <a:off x="2260163" y="4535686"/>
            <a:ext cx="3073718" cy="1421606"/>
          </a:xfrm>
          <a:prstGeom prst="rect">
            <a:avLst/>
          </a:prstGeom>
          <a:noFill/>
          <a:ln/>
        </p:spPr>
        <p:txBody>
          <a:bodyPr wrap="square" rtlCol="0" anchor="t"/>
          <a:lstStyle/>
          <a:p>
            <a:pPr marL="0" indent="0" algn="l">
              <a:lnSpc>
                <a:spcPts val="2799"/>
              </a:lnSpc>
              <a:buNone/>
            </a:pPr>
            <a:r>
              <a:rPr lang="en-US" sz="1750" dirty="0">
                <a:solidFill>
                  <a:srgbClr val="DAD1E6"/>
                </a:solidFill>
                <a:latin typeface="Fira Sans" pitchFamily="34" charset="0"/>
                <a:ea typeface="Fira Sans" pitchFamily="34" charset="-122"/>
                <a:cs typeface="Fira Sans" pitchFamily="34" charset="-120"/>
              </a:rPr>
              <a:t>XML and JSON are used to generate data from various sources, such as databases, web services, and user input.</a:t>
            </a:r>
            <a:endParaRPr lang="en-US" sz="1750" dirty="0"/>
          </a:p>
        </p:txBody>
      </p:sp>
      <p:pic>
        <p:nvPicPr>
          <p:cNvPr id="8" name="Image 1" descr="preencoded.png"/>
          <p:cNvPicPr>
            <a:picLocks noChangeAspect="1"/>
          </p:cNvPicPr>
          <p:nvPr/>
        </p:nvPicPr>
        <p:blipFill>
          <a:blip r:embed="rId4"/>
          <a:stretch>
            <a:fillRect/>
          </a:stretch>
        </p:blipFill>
        <p:spPr>
          <a:xfrm>
            <a:off x="5556052" y="2833330"/>
            <a:ext cx="3518178" cy="888682"/>
          </a:xfrm>
          <a:prstGeom prst="rect">
            <a:avLst/>
          </a:prstGeom>
        </p:spPr>
      </p:pic>
      <p:sp>
        <p:nvSpPr>
          <p:cNvPr id="9" name="Text 5"/>
          <p:cNvSpPr/>
          <p:nvPr/>
        </p:nvSpPr>
        <p:spPr>
          <a:xfrm>
            <a:off x="5778222" y="4055269"/>
            <a:ext cx="2777490" cy="347186"/>
          </a:xfrm>
          <a:prstGeom prst="rect">
            <a:avLst/>
          </a:prstGeom>
          <a:noFill/>
          <a:ln/>
        </p:spPr>
        <p:txBody>
          <a:bodyPr wrap="none" rtlCol="0" anchor="t"/>
          <a:lstStyle/>
          <a:p>
            <a:pPr marL="0" indent="0" algn="l">
              <a:lnSpc>
                <a:spcPts val="2734"/>
              </a:lnSpc>
              <a:buNone/>
            </a:pPr>
            <a:r>
              <a:rPr lang="en-US" sz="2187" b="1" dirty="0">
                <a:solidFill>
                  <a:srgbClr val="FF726D"/>
                </a:solidFill>
                <a:latin typeface="Inconsolata" pitchFamily="34" charset="0"/>
                <a:ea typeface="Inconsolata" pitchFamily="34" charset="-122"/>
                <a:cs typeface="Inconsolata" pitchFamily="34" charset="-120"/>
              </a:rPr>
              <a:t>Data Transmission</a:t>
            </a:r>
            <a:endParaRPr lang="en-US" sz="2187" dirty="0"/>
          </a:p>
        </p:txBody>
      </p:sp>
      <p:sp>
        <p:nvSpPr>
          <p:cNvPr id="10" name="Text 6"/>
          <p:cNvSpPr/>
          <p:nvPr/>
        </p:nvSpPr>
        <p:spPr>
          <a:xfrm>
            <a:off x="5778222" y="4535686"/>
            <a:ext cx="3073837" cy="1421606"/>
          </a:xfrm>
          <a:prstGeom prst="rect">
            <a:avLst/>
          </a:prstGeom>
          <a:noFill/>
          <a:ln/>
        </p:spPr>
        <p:txBody>
          <a:bodyPr wrap="square" rtlCol="0" anchor="t"/>
          <a:lstStyle/>
          <a:p>
            <a:pPr marL="0" indent="0" algn="l">
              <a:lnSpc>
                <a:spcPts val="2799"/>
              </a:lnSpc>
              <a:buNone/>
            </a:pPr>
            <a:r>
              <a:rPr lang="en-US" sz="1750" dirty="0">
                <a:solidFill>
                  <a:srgbClr val="DAD1E6"/>
                </a:solidFill>
                <a:latin typeface="Fira Sans" pitchFamily="34" charset="0"/>
                <a:ea typeface="Fira Sans" pitchFamily="34" charset="-122"/>
                <a:cs typeface="Fira Sans" pitchFamily="34" charset="-120"/>
              </a:rPr>
              <a:t>The generated data is then transmitted over the internet or within a network using XML or JSON formats.</a:t>
            </a:r>
            <a:endParaRPr lang="en-US" sz="1750" dirty="0"/>
          </a:p>
        </p:txBody>
      </p:sp>
      <p:pic>
        <p:nvPicPr>
          <p:cNvPr id="11" name="Image 2" descr="preencoded.png"/>
          <p:cNvPicPr>
            <a:picLocks noChangeAspect="1"/>
          </p:cNvPicPr>
          <p:nvPr/>
        </p:nvPicPr>
        <p:blipFill>
          <a:blip r:embed="rId5"/>
          <a:stretch>
            <a:fillRect/>
          </a:stretch>
        </p:blipFill>
        <p:spPr>
          <a:xfrm>
            <a:off x="9074229" y="2833330"/>
            <a:ext cx="3518178" cy="888682"/>
          </a:xfrm>
          <a:prstGeom prst="rect">
            <a:avLst/>
          </a:prstGeom>
        </p:spPr>
      </p:pic>
      <p:sp>
        <p:nvSpPr>
          <p:cNvPr id="12" name="Text 7"/>
          <p:cNvSpPr/>
          <p:nvPr/>
        </p:nvSpPr>
        <p:spPr>
          <a:xfrm>
            <a:off x="9296400" y="4055269"/>
            <a:ext cx="2777490" cy="347186"/>
          </a:xfrm>
          <a:prstGeom prst="rect">
            <a:avLst/>
          </a:prstGeom>
          <a:noFill/>
          <a:ln/>
        </p:spPr>
        <p:txBody>
          <a:bodyPr wrap="none" rtlCol="0" anchor="t"/>
          <a:lstStyle/>
          <a:p>
            <a:pPr marL="0" indent="0" algn="l">
              <a:lnSpc>
                <a:spcPts val="2734"/>
              </a:lnSpc>
              <a:buNone/>
            </a:pPr>
            <a:r>
              <a:rPr lang="en-US" sz="2187" b="1" dirty="0">
                <a:solidFill>
                  <a:srgbClr val="FF726D"/>
                </a:solidFill>
                <a:latin typeface="Inconsolata" pitchFamily="34" charset="0"/>
                <a:ea typeface="Inconsolata" pitchFamily="34" charset="-122"/>
                <a:cs typeface="Inconsolata" pitchFamily="34" charset="-120"/>
              </a:rPr>
              <a:t>Data Consumption</a:t>
            </a:r>
            <a:endParaRPr lang="en-US" sz="2187" dirty="0"/>
          </a:p>
        </p:txBody>
      </p:sp>
      <p:sp>
        <p:nvSpPr>
          <p:cNvPr id="13" name="Text 8"/>
          <p:cNvSpPr/>
          <p:nvPr/>
        </p:nvSpPr>
        <p:spPr>
          <a:xfrm>
            <a:off x="9296400" y="4535686"/>
            <a:ext cx="3073837" cy="1777008"/>
          </a:xfrm>
          <a:prstGeom prst="rect">
            <a:avLst/>
          </a:prstGeom>
          <a:noFill/>
          <a:ln/>
        </p:spPr>
        <p:txBody>
          <a:bodyPr wrap="square" rtlCol="0" anchor="t"/>
          <a:lstStyle/>
          <a:p>
            <a:pPr marL="0" indent="0" algn="l">
              <a:lnSpc>
                <a:spcPts val="2799"/>
              </a:lnSpc>
              <a:buNone/>
            </a:pPr>
            <a:r>
              <a:rPr lang="en-US" sz="1750" dirty="0">
                <a:solidFill>
                  <a:srgbClr val="DAD1E6"/>
                </a:solidFill>
                <a:latin typeface="Fira Sans" pitchFamily="34" charset="0"/>
                <a:ea typeface="Fira Sans" pitchFamily="34" charset="-122"/>
                <a:cs typeface="Fira Sans" pitchFamily="34" charset="-120"/>
              </a:rPr>
              <a:t>The receiving application can then parse and process the data in XML or JSON format to extract the relevant information.</a:t>
            </a:r>
            <a:endParaRPr lang="en-US" sz="175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sp>
        <p:nvSpPr>
          <p:cNvPr id="4" name="Text 2"/>
          <p:cNvSpPr/>
          <p:nvPr/>
        </p:nvSpPr>
        <p:spPr>
          <a:xfrm>
            <a:off x="2037993" y="2083475"/>
            <a:ext cx="8609171" cy="694373"/>
          </a:xfrm>
          <a:prstGeom prst="rect">
            <a:avLst/>
          </a:prstGeom>
          <a:noFill/>
          <a:ln/>
        </p:spPr>
        <p:txBody>
          <a:bodyPr wrap="none" rtlCol="0" anchor="t"/>
          <a:lstStyle/>
          <a:p>
            <a:pPr marL="0" indent="0">
              <a:lnSpc>
                <a:spcPts val="5468"/>
              </a:lnSpc>
              <a:buNone/>
            </a:pPr>
            <a:r>
              <a:rPr lang="en-US" sz="4374" b="1" dirty="0">
                <a:solidFill>
                  <a:srgbClr val="FF726D"/>
                </a:solidFill>
                <a:latin typeface="Inconsolata" pitchFamily="34" charset="0"/>
                <a:ea typeface="Inconsolata" pitchFamily="34" charset="-122"/>
                <a:cs typeface="Inconsolata" pitchFamily="34" charset="-120"/>
              </a:rPr>
              <a:t>XML and JSON in Web Development</a:t>
            </a:r>
            <a:endParaRPr lang="en-US" sz="4374" dirty="0"/>
          </a:p>
        </p:txBody>
      </p:sp>
      <p:pic>
        <p:nvPicPr>
          <p:cNvPr id="5" name="Image 0" descr="preencoded.png"/>
          <p:cNvPicPr>
            <a:picLocks noChangeAspect="1"/>
          </p:cNvPicPr>
          <p:nvPr/>
        </p:nvPicPr>
        <p:blipFill>
          <a:blip r:embed="rId3"/>
          <a:stretch>
            <a:fillRect/>
          </a:stretch>
        </p:blipFill>
        <p:spPr>
          <a:xfrm>
            <a:off x="2037993" y="3222188"/>
            <a:ext cx="444341" cy="444341"/>
          </a:xfrm>
          <a:prstGeom prst="rect">
            <a:avLst/>
          </a:prstGeom>
        </p:spPr>
      </p:pic>
      <p:sp>
        <p:nvSpPr>
          <p:cNvPr id="6" name="Text 3"/>
          <p:cNvSpPr/>
          <p:nvPr/>
        </p:nvSpPr>
        <p:spPr>
          <a:xfrm>
            <a:off x="2037993" y="3888700"/>
            <a:ext cx="2388632" cy="347186"/>
          </a:xfrm>
          <a:prstGeom prst="rect">
            <a:avLst/>
          </a:prstGeom>
          <a:noFill/>
          <a:ln/>
        </p:spPr>
        <p:txBody>
          <a:bodyPr wrap="none" rtlCol="0" anchor="t"/>
          <a:lstStyle/>
          <a:p>
            <a:pPr marL="0" indent="0" algn="l">
              <a:lnSpc>
                <a:spcPts val="2734"/>
              </a:lnSpc>
              <a:buNone/>
            </a:pPr>
            <a:r>
              <a:rPr lang="en-US" sz="2187" b="1" dirty="0">
                <a:solidFill>
                  <a:srgbClr val="FF726D"/>
                </a:solidFill>
                <a:latin typeface="Inconsolata" pitchFamily="34" charset="0"/>
                <a:ea typeface="Inconsolata" pitchFamily="34" charset="-122"/>
                <a:cs typeface="Inconsolata" pitchFamily="34" charset="-120"/>
              </a:rPr>
              <a:t>Server-side</a:t>
            </a:r>
            <a:endParaRPr lang="en-US" sz="2187" dirty="0"/>
          </a:p>
        </p:txBody>
      </p:sp>
      <p:sp>
        <p:nvSpPr>
          <p:cNvPr id="7" name="Text 4"/>
          <p:cNvSpPr/>
          <p:nvPr/>
        </p:nvSpPr>
        <p:spPr>
          <a:xfrm>
            <a:off x="2037993" y="4369118"/>
            <a:ext cx="2388632" cy="1777008"/>
          </a:xfrm>
          <a:prstGeom prst="rect">
            <a:avLst/>
          </a:prstGeom>
          <a:noFill/>
          <a:ln/>
        </p:spPr>
        <p:txBody>
          <a:bodyPr wrap="square" rtlCol="0" anchor="t"/>
          <a:lstStyle/>
          <a:p>
            <a:pPr marL="0" indent="0" algn="l">
              <a:lnSpc>
                <a:spcPts val="2799"/>
              </a:lnSpc>
              <a:buNone/>
            </a:pPr>
            <a:r>
              <a:rPr lang="en-US" sz="1750" dirty="0">
                <a:solidFill>
                  <a:srgbClr val="DAD1E6"/>
                </a:solidFill>
                <a:latin typeface="Fira Sans" pitchFamily="34" charset="0"/>
                <a:ea typeface="Fira Sans" pitchFamily="34" charset="-122"/>
                <a:cs typeface="Fira Sans" pitchFamily="34" charset="-120"/>
              </a:rPr>
              <a:t>XML and JSON are used to transmit data between the server and the client in web applications.</a:t>
            </a:r>
            <a:endParaRPr lang="en-US" sz="1750" dirty="0"/>
          </a:p>
        </p:txBody>
      </p:sp>
      <p:pic>
        <p:nvPicPr>
          <p:cNvPr id="8" name="Image 1" descr="preencoded.png"/>
          <p:cNvPicPr>
            <a:picLocks noChangeAspect="1"/>
          </p:cNvPicPr>
          <p:nvPr/>
        </p:nvPicPr>
        <p:blipFill>
          <a:blip r:embed="rId4"/>
          <a:stretch>
            <a:fillRect/>
          </a:stretch>
        </p:blipFill>
        <p:spPr>
          <a:xfrm>
            <a:off x="4759881" y="3222188"/>
            <a:ext cx="444341" cy="444341"/>
          </a:xfrm>
          <a:prstGeom prst="rect">
            <a:avLst/>
          </a:prstGeom>
        </p:spPr>
      </p:pic>
      <p:sp>
        <p:nvSpPr>
          <p:cNvPr id="9" name="Text 5"/>
          <p:cNvSpPr/>
          <p:nvPr/>
        </p:nvSpPr>
        <p:spPr>
          <a:xfrm>
            <a:off x="4759881" y="3888700"/>
            <a:ext cx="2388632" cy="347186"/>
          </a:xfrm>
          <a:prstGeom prst="rect">
            <a:avLst/>
          </a:prstGeom>
          <a:noFill/>
          <a:ln/>
        </p:spPr>
        <p:txBody>
          <a:bodyPr wrap="none" rtlCol="0" anchor="t"/>
          <a:lstStyle/>
          <a:p>
            <a:pPr marL="0" indent="0" algn="l">
              <a:lnSpc>
                <a:spcPts val="2734"/>
              </a:lnSpc>
              <a:buNone/>
            </a:pPr>
            <a:r>
              <a:rPr lang="en-US" sz="2187" b="1" dirty="0">
                <a:solidFill>
                  <a:srgbClr val="FF726D"/>
                </a:solidFill>
                <a:latin typeface="Inconsolata" pitchFamily="34" charset="0"/>
                <a:ea typeface="Inconsolata" pitchFamily="34" charset="-122"/>
                <a:cs typeface="Inconsolata" pitchFamily="34" charset="-120"/>
              </a:rPr>
              <a:t>Client-side</a:t>
            </a:r>
            <a:endParaRPr lang="en-US" sz="2187" dirty="0"/>
          </a:p>
        </p:txBody>
      </p:sp>
      <p:sp>
        <p:nvSpPr>
          <p:cNvPr id="10" name="Text 6"/>
          <p:cNvSpPr/>
          <p:nvPr/>
        </p:nvSpPr>
        <p:spPr>
          <a:xfrm>
            <a:off x="4759881" y="4369118"/>
            <a:ext cx="2388632" cy="1777008"/>
          </a:xfrm>
          <a:prstGeom prst="rect">
            <a:avLst/>
          </a:prstGeom>
          <a:noFill/>
          <a:ln/>
        </p:spPr>
        <p:txBody>
          <a:bodyPr wrap="square" rtlCol="0" anchor="t"/>
          <a:lstStyle/>
          <a:p>
            <a:pPr marL="0" indent="0" algn="l">
              <a:lnSpc>
                <a:spcPts val="2799"/>
              </a:lnSpc>
              <a:buNone/>
            </a:pPr>
            <a:r>
              <a:rPr lang="en-US" sz="1750" dirty="0">
                <a:solidFill>
                  <a:srgbClr val="DAD1E6"/>
                </a:solidFill>
                <a:latin typeface="Fira Sans" pitchFamily="34" charset="0"/>
                <a:ea typeface="Fira Sans" pitchFamily="34" charset="-122"/>
                <a:cs typeface="Fira Sans" pitchFamily="34" charset="-120"/>
              </a:rPr>
              <a:t>XML and JSON are used to represent and manipulate data on the client-side, often in the form of AJAX requests.</a:t>
            </a:r>
            <a:endParaRPr lang="en-US" sz="1750" dirty="0"/>
          </a:p>
        </p:txBody>
      </p:sp>
      <p:pic>
        <p:nvPicPr>
          <p:cNvPr id="11" name="Image 2" descr="preencoded.png"/>
          <p:cNvPicPr>
            <a:picLocks noChangeAspect="1"/>
          </p:cNvPicPr>
          <p:nvPr/>
        </p:nvPicPr>
        <p:blipFill>
          <a:blip r:embed="rId5"/>
          <a:stretch>
            <a:fillRect/>
          </a:stretch>
        </p:blipFill>
        <p:spPr>
          <a:xfrm>
            <a:off x="7481768" y="3222188"/>
            <a:ext cx="444341" cy="444341"/>
          </a:xfrm>
          <a:prstGeom prst="rect">
            <a:avLst/>
          </a:prstGeom>
        </p:spPr>
      </p:pic>
      <p:sp>
        <p:nvSpPr>
          <p:cNvPr id="12" name="Text 7"/>
          <p:cNvSpPr/>
          <p:nvPr/>
        </p:nvSpPr>
        <p:spPr>
          <a:xfrm>
            <a:off x="7481768" y="3888700"/>
            <a:ext cx="2388632" cy="347186"/>
          </a:xfrm>
          <a:prstGeom prst="rect">
            <a:avLst/>
          </a:prstGeom>
          <a:noFill/>
          <a:ln/>
        </p:spPr>
        <p:txBody>
          <a:bodyPr wrap="none" rtlCol="0" anchor="t"/>
          <a:lstStyle/>
          <a:p>
            <a:pPr marL="0" indent="0" algn="l">
              <a:lnSpc>
                <a:spcPts val="2734"/>
              </a:lnSpc>
              <a:buNone/>
            </a:pPr>
            <a:r>
              <a:rPr lang="en-US" sz="2187" b="1" dirty="0">
                <a:solidFill>
                  <a:srgbClr val="FF726D"/>
                </a:solidFill>
                <a:latin typeface="Inconsolata" pitchFamily="34" charset="0"/>
                <a:ea typeface="Inconsolata" pitchFamily="34" charset="-122"/>
                <a:cs typeface="Inconsolata" pitchFamily="34" charset="-120"/>
              </a:rPr>
              <a:t>Data Storage</a:t>
            </a:r>
            <a:endParaRPr lang="en-US" sz="2187" dirty="0"/>
          </a:p>
        </p:txBody>
      </p:sp>
      <p:sp>
        <p:nvSpPr>
          <p:cNvPr id="13" name="Text 8"/>
          <p:cNvSpPr/>
          <p:nvPr/>
        </p:nvSpPr>
        <p:spPr>
          <a:xfrm>
            <a:off x="7481768" y="4369118"/>
            <a:ext cx="2388632" cy="1421606"/>
          </a:xfrm>
          <a:prstGeom prst="rect">
            <a:avLst/>
          </a:prstGeom>
          <a:noFill/>
          <a:ln/>
        </p:spPr>
        <p:txBody>
          <a:bodyPr wrap="square" rtlCol="0" anchor="t"/>
          <a:lstStyle/>
          <a:p>
            <a:pPr marL="0" indent="0" algn="l">
              <a:lnSpc>
                <a:spcPts val="2799"/>
              </a:lnSpc>
              <a:buNone/>
            </a:pPr>
            <a:r>
              <a:rPr lang="en-US" sz="1750" dirty="0">
                <a:solidFill>
                  <a:srgbClr val="DAD1E6"/>
                </a:solidFill>
                <a:latin typeface="Fira Sans" pitchFamily="34" charset="0"/>
                <a:ea typeface="Fira Sans" pitchFamily="34" charset="-122"/>
                <a:cs typeface="Fira Sans" pitchFamily="34" charset="-120"/>
              </a:rPr>
              <a:t>XML and JSON are used to store and retrieve data in databases and other data stores.</a:t>
            </a:r>
            <a:endParaRPr lang="en-US" sz="1750" dirty="0"/>
          </a:p>
        </p:txBody>
      </p:sp>
      <p:pic>
        <p:nvPicPr>
          <p:cNvPr id="14" name="Image 3" descr="preencoded.png"/>
          <p:cNvPicPr>
            <a:picLocks noChangeAspect="1"/>
          </p:cNvPicPr>
          <p:nvPr/>
        </p:nvPicPr>
        <p:blipFill>
          <a:blip r:embed="rId6"/>
          <a:stretch>
            <a:fillRect/>
          </a:stretch>
        </p:blipFill>
        <p:spPr>
          <a:xfrm>
            <a:off x="10203656" y="3222188"/>
            <a:ext cx="444341" cy="444341"/>
          </a:xfrm>
          <a:prstGeom prst="rect">
            <a:avLst/>
          </a:prstGeom>
        </p:spPr>
      </p:pic>
      <p:sp>
        <p:nvSpPr>
          <p:cNvPr id="15" name="Text 9"/>
          <p:cNvSpPr/>
          <p:nvPr/>
        </p:nvSpPr>
        <p:spPr>
          <a:xfrm>
            <a:off x="10203656" y="3888700"/>
            <a:ext cx="2388751" cy="347186"/>
          </a:xfrm>
          <a:prstGeom prst="rect">
            <a:avLst/>
          </a:prstGeom>
          <a:noFill/>
          <a:ln/>
        </p:spPr>
        <p:txBody>
          <a:bodyPr wrap="none" rtlCol="0" anchor="t"/>
          <a:lstStyle/>
          <a:p>
            <a:pPr marL="0" indent="0" algn="l">
              <a:lnSpc>
                <a:spcPts val="2734"/>
              </a:lnSpc>
              <a:buNone/>
            </a:pPr>
            <a:r>
              <a:rPr lang="en-US" sz="2187" b="1" dirty="0">
                <a:solidFill>
                  <a:srgbClr val="FF726D"/>
                </a:solidFill>
                <a:latin typeface="Inconsolata" pitchFamily="34" charset="0"/>
                <a:ea typeface="Inconsolata" pitchFamily="34" charset="-122"/>
                <a:cs typeface="Inconsolata" pitchFamily="34" charset="-120"/>
              </a:rPr>
              <a:t>Web Services</a:t>
            </a:r>
            <a:endParaRPr lang="en-US" sz="2187" dirty="0"/>
          </a:p>
        </p:txBody>
      </p:sp>
      <p:sp>
        <p:nvSpPr>
          <p:cNvPr id="16" name="Text 10"/>
          <p:cNvSpPr/>
          <p:nvPr/>
        </p:nvSpPr>
        <p:spPr>
          <a:xfrm>
            <a:off x="10203656" y="4369118"/>
            <a:ext cx="2388751" cy="1421606"/>
          </a:xfrm>
          <a:prstGeom prst="rect">
            <a:avLst/>
          </a:prstGeom>
          <a:noFill/>
          <a:ln/>
        </p:spPr>
        <p:txBody>
          <a:bodyPr wrap="square" rtlCol="0" anchor="t"/>
          <a:lstStyle/>
          <a:p>
            <a:pPr marL="0" indent="0" algn="l">
              <a:lnSpc>
                <a:spcPts val="2799"/>
              </a:lnSpc>
              <a:buNone/>
            </a:pPr>
            <a:r>
              <a:rPr lang="en-US" sz="1750" dirty="0">
                <a:solidFill>
                  <a:srgbClr val="DAD1E6"/>
                </a:solidFill>
                <a:latin typeface="Fira Sans" pitchFamily="34" charset="0"/>
                <a:ea typeface="Fira Sans" pitchFamily="34" charset="-122"/>
                <a:cs typeface="Fira Sans" pitchFamily="34" charset="-120"/>
              </a:rPr>
              <a:t>XML and JSON are the predominant formats used in web service APIs for data exchange.</a:t>
            </a:r>
            <a:endParaRPr lang="en-US" sz="175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sp>
        <p:nvSpPr>
          <p:cNvPr id="4" name="Text 2"/>
          <p:cNvSpPr/>
          <p:nvPr/>
        </p:nvSpPr>
        <p:spPr>
          <a:xfrm>
            <a:off x="2037993" y="2375178"/>
            <a:ext cx="8886825" cy="694373"/>
          </a:xfrm>
          <a:prstGeom prst="rect">
            <a:avLst/>
          </a:prstGeom>
          <a:noFill/>
          <a:ln/>
        </p:spPr>
        <p:txBody>
          <a:bodyPr wrap="none" rtlCol="0" anchor="t"/>
          <a:lstStyle/>
          <a:p>
            <a:pPr marL="0" indent="0">
              <a:lnSpc>
                <a:spcPts val="5468"/>
              </a:lnSpc>
              <a:buNone/>
            </a:pPr>
            <a:r>
              <a:rPr lang="en-US" sz="4374" b="1" dirty="0">
                <a:solidFill>
                  <a:srgbClr val="FF726D"/>
                </a:solidFill>
                <a:latin typeface="Inconsolata" pitchFamily="34" charset="0"/>
                <a:ea typeface="Inconsolata" pitchFamily="34" charset="-122"/>
                <a:cs typeface="Inconsolata" pitchFamily="34" charset="-120"/>
              </a:rPr>
              <a:t>JSON Stringify And Parse Methods</a:t>
            </a:r>
            <a:endParaRPr lang="en-US" sz="4374" dirty="0"/>
          </a:p>
        </p:txBody>
      </p:sp>
      <p:sp>
        <p:nvSpPr>
          <p:cNvPr id="5" name="Text 3"/>
          <p:cNvSpPr/>
          <p:nvPr/>
        </p:nvSpPr>
        <p:spPr>
          <a:xfrm>
            <a:off x="2260163" y="3654743"/>
            <a:ext cx="4829056" cy="355402"/>
          </a:xfrm>
          <a:prstGeom prst="rect">
            <a:avLst/>
          </a:prstGeom>
          <a:noFill/>
          <a:ln/>
        </p:spPr>
        <p:txBody>
          <a:bodyPr wrap="none" rtlCol="0" anchor="t"/>
          <a:lstStyle/>
          <a:p>
            <a:pPr marL="0" indent="0">
              <a:lnSpc>
                <a:spcPts val="2799"/>
              </a:lnSpc>
              <a:buNone/>
            </a:pPr>
            <a:r>
              <a:rPr lang="en-US" sz="1750" dirty="0">
                <a:solidFill>
                  <a:srgbClr val="DAD1E6"/>
                </a:solidFill>
                <a:latin typeface="Fira Sans" pitchFamily="34" charset="0"/>
                <a:ea typeface="Fira Sans" pitchFamily="34" charset="-122"/>
                <a:cs typeface="Fira Sans" pitchFamily="34" charset="-120"/>
              </a:rPr>
              <a:t>JSON.stringify()</a:t>
            </a:r>
            <a:endParaRPr lang="en-US" sz="1750" dirty="0"/>
          </a:p>
        </p:txBody>
      </p:sp>
      <p:sp>
        <p:nvSpPr>
          <p:cNvPr id="6" name="Text 4"/>
          <p:cNvSpPr/>
          <p:nvPr/>
        </p:nvSpPr>
        <p:spPr>
          <a:xfrm>
            <a:off x="7541181" y="3654743"/>
            <a:ext cx="4829056" cy="710803"/>
          </a:xfrm>
          <a:prstGeom prst="rect">
            <a:avLst/>
          </a:prstGeom>
          <a:noFill/>
          <a:ln/>
        </p:spPr>
        <p:txBody>
          <a:bodyPr wrap="square" rtlCol="0" anchor="t"/>
          <a:lstStyle/>
          <a:p>
            <a:pPr marL="0" indent="0">
              <a:lnSpc>
                <a:spcPts val="2799"/>
              </a:lnSpc>
              <a:buNone/>
            </a:pPr>
            <a:r>
              <a:rPr lang="en-US" sz="1750" dirty="0">
                <a:solidFill>
                  <a:srgbClr val="DAD1E6"/>
                </a:solidFill>
                <a:latin typeface="Fira Sans" pitchFamily="34" charset="0"/>
                <a:ea typeface="Fira Sans" pitchFamily="34" charset="-122"/>
                <a:cs typeface="Fira Sans" pitchFamily="34" charset="-120"/>
              </a:rPr>
              <a:t>This method converts a JavaScript object or value to a JSON string.</a:t>
            </a:r>
            <a:endParaRPr lang="en-US" sz="1750" dirty="0"/>
          </a:p>
        </p:txBody>
      </p:sp>
      <p:sp>
        <p:nvSpPr>
          <p:cNvPr id="7" name="Shape 5"/>
          <p:cNvSpPr/>
          <p:nvPr/>
        </p:nvSpPr>
        <p:spPr>
          <a:xfrm>
            <a:off x="2037993" y="4506397"/>
            <a:ext cx="10554414" cy="1347907"/>
          </a:xfrm>
          <a:prstGeom prst="rect">
            <a:avLst/>
          </a:prstGeom>
          <a:solidFill>
            <a:srgbClr val="382748"/>
          </a:solidFill>
          <a:ln/>
        </p:spPr>
      </p:sp>
      <p:sp>
        <p:nvSpPr>
          <p:cNvPr id="8" name="Text 6"/>
          <p:cNvSpPr/>
          <p:nvPr/>
        </p:nvSpPr>
        <p:spPr>
          <a:xfrm>
            <a:off x="2260163" y="4647248"/>
            <a:ext cx="4829056" cy="355402"/>
          </a:xfrm>
          <a:prstGeom prst="rect">
            <a:avLst/>
          </a:prstGeom>
          <a:noFill/>
          <a:ln/>
        </p:spPr>
        <p:txBody>
          <a:bodyPr wrap="none" rtlCol="0" anchor="t"/>
          <a:lstStyle/>
          <a:p>
            <a:pPr marL="0" indent="0">
              <a:lnSpc>
                <a:spcPts val="2799"/>
              </a:lnSpc>
              <a:buNone/>
            </a:pPr>
            <a:r>
              <a:rPr lang="en-US" sz="1750" dirty="0">
                <a:solidFill>
                  <a:srgbClr val="DAD1E6"/>
                </a:solidFill>
                <a:latin typeface="Fira Sans" pitchFamily="34" charset="0"/>
                <a:ea typeface="Fira Sans" pitchFamily="34" charset="-122"/>
                <a:cs typeface="Fira Sans" pitchFamily="34" charset="-120"/>
              </a:rPr>
              <a:t>JSON.parse()</a:t>
            </a:r>
            <a:endParaRPr lang="en-US" sz="1750" dirty="0"/>
          </a:p>
        </p:txBody>
      </p:sp>
      <p:sp>
        <p:nvSpPr>
          <p:cNvPr id="9" name="Text 7"/>
          <p:cNvSpPr/>
          <p:nvPr/>
        </p:nvSpPr>
        <p:spPr>
          <a:xfrm>
            <a:off x="7541181" y="4647248"/>
            <a:ext cx="4829056" cy="1066205"/>
          </a:xfrm>
          <a:prstGeom prst="rect">
            <a:avLst/>
          </a:prstGeom>
          <a:noFill/>
          <a:ln/>
        </p:spPr>
        <p:txBody>
          <a:bodyPr wrap="square" rtlCol="0" anchor="t"/>
          <a:lstStyle/>
          <a:p>
            <a:pPr marL="0" indent="0">
              <a:lnSpc>
                <a:spcPts val="2799"/>
              </a:lnSpc>
              <a:buNone/>
            </a:pPr>
            <a:r>
              <a:rPr lang="en-US" sz="1750" dirty="0">
                <a:solidFill>
                  <a:srgbClr val="DAD1E6"/>
                </a:solidFill>
                <a:latin typeface="Fira Sans" pitchFamily="34" charset="0"/>
                <a:ea typeface="Fira Sans" pitchFamily="34" charset="-122"/>
                <a:cs typeface="Fira Sans" pitchFamily="34" charset="-120"/>
              </a:rPr>
              <a:t>This method parses a JSON string, constructing the JavaScript value or object described by the string.</a:t>
            </a:r>
            <a:endParaRPr lang="en-US" sz="175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sp>
        <p:nvSpPr>
          <p:cNvPr id="4" name="Text 2"/>
          <p:cNvSpPr/>
          <p:nvPr/>
        </p:nvSpPr>
        <p:spPr>
          <a:xfrm>
            <a:off x="2037993" y="1087993"/>
            <a:ext cx="7775972" cy="694373"/>
          </a:xfrm>
          <a:prstGeom prst="rect">
            <a:avLst/>
          </a:prstGeom>
          <a:noFill/>
          <a:ln/>
        </p:spPr>
        <p:txBody>
          <a:bodyPr wrap="none" rtlCol="0" anchor="t"/>
          <a:lstStyle/>
          <a:p>
            <a:pPr marL="0" indent="0">
              <a:lnSpc>
                <a:spcPts val="5468"/>
              </a:lnSpc>
              <a:buNone/>
            </a:pPr>
            <a:r>
              <a:rPr lang="en-US" sz="4374" b="1" dirty="0">
                <a:solidFill>
                  <a:srgbClr val="FF726D"/>
                </a:solidFill>
                <a:latin typeface="Inconsolata" pitchFamily="34" charset="0"/>
                <a:ea typeface="Inconsolata" pitchFamily="34" charset="-122"/>
                <a:cs typeface="Inconsolata" pitchFamily="34" charset="-120"/>
              </a:rPr>
              <a:t>Conclusion and Future Trends</a:t>
            </a:r>
            <a:endParaRPr lang="en-US" sz="4374" dirty="0"/>
          </a:p>
        </p:txBody>
      </p:sp>
      <p:sp>
        <p:nvSpPr>
          <p:cNvPr id="5" name="Shape 3"/>
          <p:cNvSpPr/>
          <p:nvPr/>
        </p:nvSpPr>
        <p:spPr>
          <a:xfrm>
            <a:off x="2037993" y="2226707"/>
            <a:ext cx="5166122" cy="2346365"/>
          </a:xfrm>
          <a:prstGeom prst="roundRect">
            <a:avLst>
              <a:gd name="adj" fmla="val 2841"/>
            </a:avLst>
          </a:prstGeom>
          <a:solidFill>
            <a:srgbClr val="382748"/>
          </a:solidFill>
          <a:ln/>
        </p:spPr>
      </p:sp>
      <p:sp>
        <p:nvSpPr>
          <p:cNvPr id="6" name="Text 4"/>
          <p:cNvSpPr/>
          <p:nvPr/>
        </p:nvSpPr>
        <p:spPr>
          <a:xfrm>
            <a:off x="2260163" y="2448878"/>
            <a:ext cx="2777490" cy="347186"/>
          </a:xfrm>
          <a:prstGeom prst="rect">
            <a:avLst/>
          </a:prstGeom>
          <a:noFill/>
          <a:ln/>
        </p:spPr>
        <p:txBody>
          <a:bodyPr wrap="none" rtlCol="0" anchor="t"/>
          <a:lstStyle/>
          <a:p>
            <a:pPr marL="0" indent="0">
              <a:lnSpc>
                <a:spcPts val="2734"/>
              </a:lnSpc>
              <a:buNone/>
            </a:pPr>
            <a:r>
              <a:rPr lang="en-US" sz="2187" b="1" dirty="0">
                <a:solidFill>
                  <a:srgbClr val="FF726D"/>
                </a:solidFill>
                <a:latin typeface="Inconsolata" pitchFamily="34" charset="0"/>
                <a:ea typeface="Inconsolata" pitchFamily="34" charset="-122"/>
                <a:cs typeface="Inconsolata" pitchFamily="34" charset="-120"/>
              </a:rPr>
              <a:t>Continued Adoption</a:t>
            </a:r>
            <a:endParaRPr lang="en-US" sz="2187" dirty="0"/>
          </a:p>
        </p:txBody>
      </p:sp>
      <p:sp>
        <p:nvSpPr>
          <p:cNvPr id="7" name="Text 5"/>
          <p:cNvSpPr/>
          <p:nvPr/>
        </p:nvSpPr>
        <p:spPr>
          <a:xfrm>
            <a:off x="2260163" y="2929295"/>
            <a:ext cx="4721781" cy="1421606"/>
          </a:xfrm>
          <a:prstGeom prst="rect">
            <a:avLst/>
          </a:prstGeom>
          <a:noFill/>
          <a:ln/>
        </p:spPr>
        <p:txBody>
          <a:bodyPr wrap="square" rtlCol="0" anchor="t"/>
          <a:lstStyle/>
          <a:p>
            <a:pPr marL="0" indent="0">
              <a:lnSpc>
                <a:spcPts val="2799"/>
              </a:lnSpc>
              <a:buNone/>
            </a:pPr>
            <a:r>
              <a:rPr lang="en-US" sz="1750" dirty="0">
                <a:solidFill>
                  <a:srgbClr val="DAD1E6"/>
                </a:solidFill>
                <a:latin typeface="Fira Sans" pitchFamily="34" charset="0"/>
                <a:ea typeface="Fira Sans" pitchFamily="34" charset="-122"/>
                <a:cs typeface="Fira Sans" pitchFamily="34" charset="-120"/>
              </a:rPr>
              <a:t>XML and JSON will continue to be widely used in data exchange and web development as the demand for efficient and flexible data formats grows.</a:t>
            </a:r>
            <a:endParaRPr lang="en-US" sz="1750" dirty="0"/>
          </a:p>
        </p:txBody>
      </p:sp>
      <p:sp>
        <p:nvSpPr>
          <p:cNvPr id="8" name="Shape 6"/>
          <p:cNvSpPr/>
          <p:nvPr/>
        </p:nvSpPr>
        <p:spPr>
          <a:xfrm>
            <a:off x="7426285" y="2226707"/>
            <a:ext cx="5166122" cy="2346365"/>
          </a:xfrm>
          <a:prstGeom prst="roundRect">
            <a:avLst>
              <a:gd name="adj" fmla="val 2841"/>
            </a:avLst>
          </a:prstGeom>
          <a:solidFill>
            <a:srgbClr val="382748"/>
          </a:solidFill>
          <a:ln/>
        </p:spPr>
      </p:sp>
      <p:sp>
        <p:nvSpPr>
          <p:cNvPr id="9" name="Text 7"/>
          <p:cNvSpPr/>
          <p:nvPr/>
        </p:nvSpPr>
        <p:spPr>
          <a:xfrm>
            <a:off x="7648456" y="2448878"/>
            <a:ext cx="2777490" cy="347186"/>
          </a:xfrm>
          <a:prstGeom prst="rect">
            <a:avLst/>
          </a:prstGeom>
          <a:noFill/>
          <a:ln/>
        </p:spPr>
        <p:txBody>
          <a:bodyPr wrap="none" rtlCol="0" anchor="t"/>
          <a:lstStyle/>
          <a:p>
            <a:pPr marL="0" indent="0">
              <a:lnSpc>
                <a:spcPts val="2734"/>
              </a:lnSpc>
              <a:buNone/>
            </a:pPr>
            <a:r>
              <a:rPr lang="en-US" sz="2187" b="1" dirty="0">
                <a:solidFill>
                  <a:srgbClr val="FF726D"/>
                </a:solidFill>
                <a:latin typeface="Inconsolata" pitchFamily="34" charset="0"/>
                <a:ea typeface="Inconsolata" pitchFamily="34" charset="-122"/>
                <a:cs typeface="Inconsolata" pitchFamily="34" charset="-120"/>
              </a:rPr>
              <a:t>Evolving Standards</a:t>
            </a:r>
            <a:endParaRPr lang="en-US" sz="2187" dirty="0"/>
          </a:p>
        </p:txBody>
      </p:sp>
      <p:sp>
        <p:nvSpPr>
          <p:cNvPr id="10" name="Text 8"/>
          <p:cNvSpPr/>
          <p:nvPr/>
        </p:nvSpPr>
        <p:spPr>
          <a:xfrm>
            <a:off x="7648456" y="2929295"/>
            <a:ext cx="4721781" cy="1421606"/>
          </a:xfrm>
          <a:prstGeom prst="rect">
            <a:avLst/>
          </a:prstGeom>
          <a:noFill/>
          <a:ln/>
        </p:spPr>
        <p:txBody>
          <a:bodyPr wrap="square" rtlCol="0" anchor="t"/>
          <a:lstStyle/>
          <a:p>
            <a:pPr marL="0" indent="0">
              <a:lnSpc>
                <a:spcPts val="2799"/>
              </a:lnSpc>
              <a:buNone/>
            </a:pPr>
            <a:r>
              <a:rPr lang="en-US" sz="1750" dirty="0">
                <a:solidFill>
                  <a:srgbClr val="DAD1E6"/>
                </a:solidFill>
                <a:latin typeface="Fira Sans" pitchFamily="34" charset="0"/>
                <a:ea typeface="Fira Sans" pitchFamily="34" charset="-122"/>
                <a:cs typeface="Fira Sans" pitchFamily="34" charset="-120"/>
              </a:rPr>
              <a:t>Both XML and JSON standards will likely evolve to meet the changing needs of the industry, with new features and improvements being added over time.</a:t>
            </a:r>
            <a:endParaRPr lang="en-US" sz="1750" dirty="0"/>
          </a:p>
        </p:txBody>
      </p:sp>
      <p:sp>
        <p:nvSpPr>
          <p:cNvPr id="11" name="Shape 9"/>
          <p:cNvSpPr/>
          <p:nvPr/>
        </p:nvSpPr>
        <p:spPr>
          <a:xfrm>
            <a:off x="2037993" y="4795242"/>
            <a:ext cx="5166122" cy="2346365"/>
          </a:xfrm>
          <a:prstGeom prst="roundRect">
            <a:avLst>
              <a:gd name="adj" fmla="val 2841"/>
            </a:avLst>
          </a:prstGeom>
          <a:solidFill>
            <a:srgbClr val="382748"/>
          </a:solidFill>
          <a:ln/>
        </p:spPr>
      </p:sp>
      <p:sp>
        <p:nvSpPr>
          <p:cNvPr id="12" name="Text 10"/>
          <p:cNvSpPr/>
          <p:nvPr/>
        </p:nvSpPr>
        <p:spPr>
          <a:xfrm>
            <a:off x="2260163" y="5017413"/>
            <a:ext cx="2915364" cy="347186"/>
          </a:xfrm>
          <a:prstGeom prst="rect">
            <a:avLst/>
          </a:prstGeom>
          <a:noFill/>
          <a:ln/>
        </p:spPr>
        <p:txBody>
          <a:bodyPr wrap="none" rtlCol="0" anchor="t"/>
          <a:lstStyle/>
          <a:p>
            <a:pPr marL="0" indent="0">
              <a:lnSpc>
                <a:spcPts val="2734"/>
              </a:lnSpc>
              <a:buNone/>
            </a:pPr>
            <a:r>
              <a:rPr lang="en-US" sz="2187" b="1" dirty="0">
                <a:solidFill>
                  <a:srgbClr val="FF726D"/>
                </a:solidFill>
                <a:latin typeface="Inconsolata" pitchFamily="34" charset="0"/>
                <a:ea typeface="Inconsolata" pitchFamily="34" charset="-122"/>
                <a:cs typeface="Inconsolata" pitchFamily="34" charset="-120"/>
              </a:rPr>
              <a:t>Emerging Alternatives</a:t>
            </a:r>
            <a:endParaRPr lang="en-US" sz="2187" dirty="0"/>
          </a:p>
        </p:txBody>
      </p:sp>
      <p:sp>
        <p:nvSpPr>
          <p:cNvPr id="13" name="Text 11"/>
          <p:cNvSpPr/>
          <p:nvPr/>
        </p:nvSpPr>
        <p:spPr>
          <a:xfrm>
            <a:off x="2260163" y="5497830"/>
            <a:ext cx="4721781" cy="1421606"/>
          </a:xfrm>
          <a:prstGeom prst="rect">
            <a:avLst/>
          </a:prstGeom>
          <a:noFill/>
          <a:ln/>
        </p:spPr>
        <p:txBody>
          <a:bodyPr wrap="square" rtlCol="0" anchor="t"/>
          <a:lstStyle/>
          <a:p>
            <a:pPr marL="0" indent="0">
              <a:lnSpc>
                <a:spcPts val="2799"/>
              </a:lnSpc>
              <a:buNone/>
            </a:pPr>
            <a:r>
              <a:rPr lang="en-US" sz="1750" dirty="0">
                <a:solidFill>
                  <a:srgbClr val="DAD1E6"/>
                </a:solidFill>
                <a:latin typeface="Fira Sans" pitchFamily="34" charset="0"/>
                <a:ea typeface="Fira Sans" pitchFamily="34" charset="-122"/>
                <a:cs typeface="Fira Sans" pitchFamily="34" charset="-120"/>
              </a:rPr>
              <a:t>While XML and JSON remain the dominant players, new data exchange formats like YAML and Protocol Buffers may gain traction in specific use cases.</a:t>
            </a:r>
            <a:endParaRPr lang="en-US" sz="1750" dirty="0"/>
          </a:p>
        </p:txBody>
      </p:sp>
      <p:sp>
        <p:nvSpPr>
          <p:cNvPr id="14" name="Shape 12"/>
          <p:cNvSpPr/>
          <p:nvPr/>
        </p:nvSpPr>
        <p:spPr>
          <a:xfrm>
            <a:off x="7426285" y="4795242"/>
            <a:ext cx="5166122" cy="2346365"/>
          </a:xfrm>
          <a:prstGeom prst="roundRect">
            <a:avLst>
              <a:gd name="adj" fmla="val 2841"/>
            </a:avLst>
          </a:prstGeom>
          <a:solidFill>
            <a:srgbClr val="382748"/>
          </a:solidFill>
          <a:ln/>
        </p:spPr>
      </p:sp>
      <p:sp>
        <p:nvSpPr>
          <p:cNvPr id="15" name="Text 13"/>
          <p:cNvSpPr/>
          <p:nvPr/>
        </p:nvSpPr>
        <p:spPr>
          <a:xfrm>
            <a:off x="7648456" y="5017413"/>
            <a:ext cx="2915364" cy="347186"/>
          </a:xfrm>
          <a:prstGeom prst="rect">
            <a:avLst/>
          </a:prstGeom>
          <a:noFill/>
          <a:ln/>
        </p:spPr>
        <p:txBody>
          <a:bodyPr wrap="none" rtlCol="0" anchor="t"/>
          <a:lstStyle/>
          <a:p>
            <a:pPr marL="0" indent="0">
              <a:lnSpc>
                <a:spcPts val="2734"/>
              </a:lnSpc>
              <a:buNone/>
            </a:pPr>
            <a:r>
              <a:rPr lang="en-US" sz="2187" b="1" dirty="0">
                <a:solidFill>
                  <a:srgbClr val="FF726D"/>
                </a:solidFill>
                <a:latin typeface="Inconsolata" pitchFamily="34" charset="0"/>
                <a:ea typeface="Inconsolata" pitchFamily="34" charset="-122"/>
                <a:cs typeface="Inconsolata" pitchFamily="34" charset="-120"/>
              </a:rPr>
              <a:t>Increased Integration</a:t>
            </a:r>
            <a:endParaRPr lang="en-US" sz="2187" dirty="0"/>
          </a:p>
        </p:txBody>
      </p:sp>
      <p:sp>
        <p:nvSpPr>
          <p:cNvPr id="16" name="Text 14"/>
          <p:cNvSpPr/>
          <p:nvPr/>
        </p:nvSpPr>
        <p:spPr>
          <a:xfrm>
            <a:off x="7648456" y="5497830"/>
            <a:ext cx="4721781" cy="1421606"/>
          </a:xfrm>
          <a:prstGeom prst="rect">
            <a:avLst/>
          </a:prstGeom>
          <a:noFill/>
          <a:ln/>
        </p:spPr>
        <p:txBody>
          <a:bodyPr wrap="square" rtlCol="0" anchor="t"/>
          <a:lstStyle/>
          <a:p>
            <a:pPr marL="0" indent="0">
              <a:lnSpc>
                <a:spcPts val="2799"/>
              </a:lnSpc>
              <a:buNone/>
            </a:pPr>
            <a:r>
              <a:rPr lang="en-US" sz="1750" dirty="0">
                <a:solidFill>
                  <a:srgbClr val="DAD1E6"/>
                </a:solidFill>
                <a:latin typeface="Fira Sans" pitchFamily="34" charset="0"/>
                <a:ea typeface="Fira Sans" pitchFamily="34" charset="-122"/>
                <a:cs typeface="Fira Sans" pitchFamily="34" charset="-120"/>
              </a:rPr>
              <a:t>The integration of XML and JSON with other technologies, such as cloud computing, big data, and the Internet of Things, will drive further innovation and adoption.</a:t>
            </a:r>
            <a:endParaRPr lang="en-US" sz="175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693</Words>
  <Application>Microsoft Office PowerPoint</Application>
  <PresentationFormat>Custom</PresentationFormat>
  <Paragraphs>66</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Fira Sans</vt:lpstr>
      <vt:lpstr>Inconsolata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Muniba</cp:lastModifiedBy>
  <cp:revision>3</cp:revision>
  <dcterms:created xsi:type="dcterms:W3CDTF">2024-03-30T05:14:04Z</dcterms:created>
  <dcterms:modified xsi:type="dcterms:W3CDTF">2024-03-30T05:18:38Z</dcterms:modified>
</cp:coreProperties>
</file>